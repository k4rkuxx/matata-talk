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B"/>
    <a:srgbClr val="B71B1B"/>
    <a:srgbClr val="2E7D32"/>
    <a:srgbClr val="6A1B9A"/>
    <a:srgbClr val="0C46A1"/>
    <a:srgbClr val="00897B"/>
    <a:srgbClr val="FF8F00"/>
    <a:srgbClr val="0F3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/>
  </p:normalViewPr>
  <p:slideViewPr>
    <p:cSldViewPr snapToGrid="0" snapToObjects="1">
      <p:cViewPr varScale="1">
        <p:scale>
          <a:sx n="138" d="100"/>
          <a:sy n="138" d="100"/>
        </p:scale>
        <p:origin x="17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A33FA20-572F-AC6D-F087-891F23772E05}"/>
              </a:ext>
            </a:extLst>
          </p:cNvPr>
          <p:cNvSpPr/>
          <p:nvPr/>
        </p:nvSpPr>
        <p:spPr>
          <a:xfrm>
            <a:off x="0" y="0"/>
            <a:ext cx="12192000" cy="2636874"/>
          </a:xfrm>
          <a:prstGeom prst="rect">
            <a:avLst/>
          </a:prstGeom>
          <a:solidFill>
            <a:srgbClr val="CCEC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F3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272" y="134203"/>
            <a:ext cx="2208976" cy="2208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31786"/>
            <a:ext cx="10362895" cy="1923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🦁 </a:t>
            </a:r>
            <a:r>
              <a:rPr dirty="0" err="1"/>
              <a:t>MatataTalk</a:t>
            </a:r>
            <a:endParaRPr dirty="0"/>
          </a:p>
          <a:p>
            <a:pPr algn="ctr">
              <a:spcBef>
                <a:spcPts val="1000"/>
              </a:spcBef>
              <a:defRPr sz="2200" b="1">
                <a:solidFill>
                  <a:srgbClr val="90CAF9"/>
                </a:solidFill>
              </a:defRPr>
            </a:pPr>
            <a:r>
              <a:rPr dirty="0" err="1"/>
              <a:t>Comunicación</a:t>
            </a:r>
            <a:r>
              <a:rPr dirty="0"/>
              <a:t> </a:t>
            </a:r>
            <a:r>
              <a:rPr dirty="0" err="1"/>
              <a:t>Aumentativa</a:t>
            </a:r>
            <a:r>
              <a:rPr dirty="0"/>
              <a:t> y Alternativa (CAA) de Nueva Generación</a:t>
            </a:r>
          </a:p>
          <a:p>
            <a:pPr algn="ctr">
              <a:spcBef>
                <a:spcPts val="600"/>
              </a:spcBef>
              <a:defRPr sz="1600" i="1">
                <a:solidFill>
                  <a:srgbClr val="E3F2FD"/>
                </a:solidFill>
              </a:defRPr>
            </a:pPr>
            <a:r>
              <a:rPr dirty="0" err="1"/>
              <a:t>Democratizando</a:t>
            </a:r>
            <a:r>
              <a:rPr dirty="0"/>
              <a:t> la </a:t>
            </a:r>
            <a:r>
              <a:rPr dirty="0" err="1"/>
              <a:t>voz</a:t>
            </a:r>
            <a:r>
              <a:rPr dirty="0"/>
              <a:t> y la </a:t>
            </a:r>
            <a:r>
              <a:rPr dirty="0" err="1"/>
              <a:t>autonomía</a:t>
            </a:r>
            <a:r>
              <a:rPr dirty="0"/>
              <a:t> para personas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espectro</a:t>
            </a:r>
            <a:r>
              <a:rPr dirty="0"/>
              <a:t> </a:t>
            </a:r>
            <a:r>
              <a:rPr dirty="0" err="1"/>
              <a:t>autista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557784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EB3B"/>
                </a:solidFill>
              </a:defRPr>
            </a:pPr>
            <a:r>
              <a:t>💙 En honor y dedicación a Mateo Rafael ("Matata")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Software Libre, Accesible e Interoperable para la Comunidad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2682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1.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604742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 err="1">
                <a:solidFill>
                  <a:srgbClr val="0F3569"/>
                </a:solidFill>
              </a:rPr>
              <a:t>Propósito</a:t>
            </a:r>
            <a:r>
              <a:rPr dirty="0">
                <a:solidFill>
                  <a:srgbClr val="0F3569"/>
                </a:solidFill>
              </a:rPr>
              <a:t> y Misión: Amor, Rigor y Tecnología Libre</a:t>
            </a: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MatataTalk nace de la necesidad real de un padre que busca darle a su hijo Mateo Rafael una herramienta de comunicación equivalente o superior a los estándares clínicos de la industria (como Proloquo2Go), pero 100% libre de barreras económicas y accesible en Android.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328416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48164"/>
            <a:ext cx="3328416" cy="8229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50288"/>
            <a:ext cx="3054096" cy="437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💙 Mateo Rafael ("Matata")</a:t>
            </a:r>
          </a:p>
          <a:p>
            <a:pPr>
              <a:defRPr sz="1100">
                <a:solidFill>
                  <a:srgbClr val="E3F2FD"/>
                </a:solidFill>
              </a:defRPr>
            </a:pPr>
            <a:r>
              <a:rPr dirty="0" err="1"/>
              <a:t>Inspiración</a:t>
            </a:r>
            <a:r>
              <a:rPr dirty="0"/>
              <a:t> y Corazón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Dedicado a personas no verbales, con autismo, dispraxia o parálisis cerebral.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Desarrollado desde la convivencia cotidiana y la observación clínica continua.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Prioriza la dignidad comunicativa y la reducción de la frustración.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057400"/>
            <a:ext cx="3328416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6552" y="2048164"/>
            <a:ext cx="3328416" cy="8229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250288"/>
            <a:ext cx="3054096" cy="437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🧠 Rigor Clínico CAA</a:t>
            </a:r>
          </a:p>
          <a:p>
            <a:pPr>
              <a:defRPr sz="1100">
                <a:solidFill>
                  <a:srgbClr val="E3F2FD"/>
                </a:solidFill>
              </a:defRPr>
            </a:pPr>
            <a:r>
              <a:t>Estándares Internacionales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0175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Planeación motora invariante (fija coordenadas como en un instrumento musical).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Gramática natural con conjugación completa en español.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Filtros táctiles avanzados adaptados a espasmos y desregulación.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2057400"/>
            <a:ext cx="3328416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4" y="2048164"/>
            <a:ext cx="3328416" cy="8229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238744" y="2250288"/>
            <a:ext cx="3054096" cy="437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🌐 Tecnología Abierta y Universal</a:t>
            </a:r>
          </a:p>
          <a:p>
            <a:pPr>
              <a:defRPr sz="1100">
                <a:solidFill>
                  <a:srgbClr val="E3F2FD"/>
                </a:solidFill>
              </a:defRPr>
            </a:pPr>
            <a:r>
              <a:t>Sin Muros de Pago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0175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Desarrollado con Flutter para compatibilidad universal con dispositivos accesibles.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Pictogramas oficiales de ARASAAC bajo licencia abierta Creative Commons.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• Compatible con el estándar mundial Open Board Format (.obf / .obz).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82614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2. CONTEXTO TERAPÉUTICO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507889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0F3569"/>
                </a:solidFill>
              </a:rPr>
              <a:t>El Desafío Clínico en el Autismo No Verbal</a:t>
            </a: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El lenguaje oral no es la única vía para comunicarse. Las personas en el espectro autista con desafíos del habla enfrentan 4 grandes barreras que impactan severamente su bienestar emocional y desarrollo: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1. Frustración y Meltdowns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La imposibilidad de comunicar dolor, hambre o sobrecarga sensorial genera altos niveles de ansiedad y crisis conductuales desreguladas.</a:t>
            </a:r>
          </a:p>
          <a:p>
            <a:pPr>
              <a:spcBef>
                <a:spcPts val="400"/>
              </a:spcBef>
              <a:defRPr sz="1050" i="1">
                <a:solidFill>
                  <a:srgbClr val="C62828"/>
                </a:solidFill>
              </a:defRPr>
            </a:pPr>
            <a:r>
              <a:t>👉 Impacto: Conductas disruptivas originadas en la falta de un canal para pedir auxilio.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2. Fatiga Cognitiva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Los sistemas tradicionales obligan a escanear visualmente cada botón en posiciones cambiantes, saturando la memoria de trabajo.</a:t>
            </a:r>
          </a:p>
          <a:p>
            <a:pPr>
              <a:spcBef>
                <a:spcPts val="400"/>
              </a:spcBef>
              <a:defRPr sz="1050" i="1">
                <a:solidFill>
                  <a:srgbClr val="C62828"/>
                </a:solidFill>
              </a:defRPr>
            </a:pPr>
            <a:r>
              <a:t>👉 Impacto: Cansancio mental acelerado y abandono del dispositivo de comunicación.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3. Lenguaje Telegráfico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Muchas herramientas se limitan a sustantivos e infinitivos sueltos ("yo comer"), bloqueando la estructuración gramatical completa.</a:t>
            </a:r>
          </a:p>
          <a:p>
            <a:pPr>
              <a:spcBef>
                <a:spcPts val="400"/>
              </a:spcBef>
              <a:defRPr sz="1050" i="1">
                <a:solidFill>
                  <a:srgbClr val="C62828"/>
                </a:solidFill>
              </a:defRPr>
            </a:pPr>
            <a:r>
              <a:t>👉 Impacto: Incapacidad para expresar pasado, futuro, emociones sutiles o formular preguntas.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3434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4. Desafíos Motores Finos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Movimientos espasmódicos, temblores o aleteos provocan dobles toques accidentales y activaciones erráticas.</a:t>
            </a:r>
          </a:p>
          <a:p>
            <a:pPr>
              <a:spcBef>
                <a:spcPts val="400"/>
              </a:spcBef>
              <a:defRPr sz="1050" i="1">
                <a:solidFill>
                  <a:srgbClr val="C62828"/>
                </a:solidFill>
              </a:defRPr>
            </a:pPr>
            <a:r>
              <a:t>👉 Impacto: Frustración acústica inmediata por repetición de palabras no deseadas.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34121FE-7484-6AE1-E253-00B3842C9F2A}"/>
              </a:ext>
            </a:extLst>
          </p:cNvPr>
          <p:cNvSpPr/>
          <p:nvPr/>
        </p:nvSpPr>
        <p:spPr>
          <a:xfrm>
            <a:off x="0" y="936739"/>
            <a:ext cx="12191695" cy="142097"/>
          </a:xfrm>
          <a:prstGeom prst="rect">
            <a:avLst/>
          </a:prstGeom>
          <a:solidFill>
            <a:srgbClr val="B7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28616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3. MAPEO DE ROADMAP &amp; IMPACTO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492455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0F3569"/>
                </a:solidFill>
              </a:rPr>
              <a:t>Fase 1: Motor Base &amp; Cuadrícula Motora</a:t>
            </a: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8288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E7D32"/>
                </a:solidFill>
              </a:defRPr>
            </a:pPr>
            <a:r>
              <a:t>✦ Invarianza Espacial (Motor Planning)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Los pictogramas esenciales permanecen fijos en la misma coordenada (fila, columna) en todo momento.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Memoria Cinestésica: El cerebro automatiza el movimiento de la mano (como tocar el piano). No necesita buscar visualmente la pantalla cada vez, reduciendo la sobrecarga cognitiva y acelerando el habla fluida.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8288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E7D32"/>
                </a:solidFill>
              </a:defRPr>
            </a:pPr>
            <a:r>
              <a:t>✦ Código de Colores Fitzgerald Modificado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Clasificación cromática estandarizada (Verbo = Verde, Pronombre = Amarillo, Sustantivo = Naranja, Social = Rosa).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Estructuración Semántica: Facilita la comprensión de las funciones gramaticales de las palabras mediante anclaje visual de alto contraste y reconocimiento intuitivo.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8288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E7D32"/>
                </a:solidFill>
              </a:defRPr>
            </a:pPr>
            <a:r>
              <a:t>✦ Integración Oficial ARASAAC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Renderizado vectorial nítido de símbolos con caché local 100% offline.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Comprensión Simbólica Universal: Facilita la transición directa entre el pictograma físico (sistema PECS) y el comunicador digital dinámico.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18288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E7D32"/>
                </a:solidFill>
              </a:defRPr>
            </a:pPr>
            <a:r>
              <a:t>✦ Síntesis de Voz en Español (TTS)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Pronunciación instantánea palabra por palabra y lectura de frase completa con entonación natural.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Círculo de Comunicación: El usuario escucha el modelo sonoro correcto de la palabra, fortaleciendo el feedback auditivo y la comprensión del lenguaje oral.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7FD6C16D-A097-28AF-F0E4-B7ED2FA004FE}"/>
              </a:ext>
            </a:extLst>
          </p:cNvPr>
          <p:cNvSpPr/>
          <p:nvPr/>
        </p:nvSpPr>
        <p:spPr>
          <a:xfrm>
            <a:off x="0" y="936739"/>
            <a:ext cx="12191695" cy="142097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28616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3. MAPEO DE ROADMAP &amp; IMPACTO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597849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0F3569"/>
                </a:solidFill>
              </a:rPr>
              <a:t>Fase 2: Motor Morfológico &amp; Gramática Dinámica</a:t>
            </a: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10698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82880" cy="15544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481328"/>
            <a:ext cx="102412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A1B9A"/>
                </a:solidFill>
              </a:defRPr>
            </a:pPr>
            <a:r>
              <a:t>✦ Motor de Conjugación en Español (SpanishGrammarEngine)</a:t>
            </a:r>
          </a:p>
          <a:p>
            <a:pPr>
              <a:spcBef>
                <a:spcPts val="300"/>
              </a:spcBef>
              <a:defRPr sz="1100">
                <a:solidFill>
                  <a:srgbClr val="6C757D"/>
                </a:solidFill>
              </a:defRPr>
            </a:pPr>
            <a:r>
              <a:t>Técnico: Algoritmo lingüístico para verbos regulares (-ar, -er, -ir) e irregulares clave (querer, ir, jugar, tener, poder, estar).</a:t>
            </a:r>
          </a:p>
          <a:p>
            <a:pPr>
              <a:spcBef>
                <a:spcPts val="300"/>
              </a:spcBef>
              <a:defRPr sz="1150" b="1">
                <a:solidFill>
                  <a:srgbClr val="212529"/>
                </a:solidFill>
              </a:defRPr>
            </a:pPr>
            <a:r>
              <a:t>🎯 Impacto Clínico: Expresión Temporal Precisa: Permite comunicar no solo lo que ocurre ahora, sino recordar vivencias pasadas ("ayer comí") o anticipar eventos futuros ("mañana jugaré"), crucial para la autorregulación y la anticipación en autismo.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82880" cy="15544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218688"/>
            <a:ext cx="102412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A1B9A"/>
                </a:solidFill>
              </a:defRPr>
            </a:pPr>
            <a:r>
              <a:t>✦ Popup Morfológico por Pulsación Prolongada (Long-Press)</a:t>
            </a:r>
          </a:p>
          <a:p>
            <a:pPr>
              <a:spcBef>
                <a:spcPts val="300"/>
              </a:spcBef>
              <a:defRPr sz="1100">
                <a:solidFill>
                  <a:srgbClr val="6C757D"/>
                </a:solidFill>
              </a:defRPr>
            </a:pPr>
            <a:r>
              <a:t>Técnico: Al mantener presionado un verbo o adjetivo, se despliega una matriz limpia con todas las conjugaciones y concordancias.</a:t>
            </a:r>
          </a:p>
          <a:p>
            <a:pPr>
              <a:spcBef>
                <a:spcPts val="300"/>
              </a:spcBef>
              <a:defRPr sz="1150" b="1">
                <a:solidFill>
                  <a:srgbClr val="212529"/>
                </a:solidFill>
              </a:defRPr>
            </a:pPr>
            <a:r>
              <a:t>🎯 Impacto Clínico: Economía de Pantalla: Evita saturar el tablero con decenas de botones repetidos para un mismo verbo, manteniendo la cuadrícula limpia, ordenada y motóricamente predecible.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82880" cy="15544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956048"/>
            <a:ext cx="102412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A1B9A"/>
                </a:solidFill>
              </a:defRPr>
            </a:pPr>
            <a:r>
              <a:t>✦ Pluralización y Concordancia de Género Automática</a:t>
            </a:r>
          </a:p>
          <a:p>
            <a:pPr>
              <a:spcBef>
                <a:spcPts val="300"/>
              </a:spcBef>
              <a:defRPr sz="1100">
                <a:solidFill>
                  <a:srgbClr val="6C757D"/>
                </a:solidFill>
              </a:defRPr>
            </a:pPr>
            <a:r>
              <a:t>Técnico: Ajuste morfológico dinámico para sustantivos y adjetivos en español.</a:t>
            </a:r>
          </a:p>
          <a:p>
            <a:pPr>
              <a:spcBef>
                <a:spcPts val="300"/>
              </a:spcBef>
              <a:defRPr sz="1150" b="1">
                <a:solidFill>
                  <a:srgbClr val="212529"/>
                </a:solidFill>
              </a:defRPr>
            </a:pPr>
            <a:r>
              <a:t>🎯 Impacto Clínico: Dignidad Comunicativa: Fomenta la construcción de oraciones gramaticalmente completas y naturales ("manzanas rojas" en vez del telegráfico "manzana rojo").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836FB68-E4B9-C417-EC72-F34762C76B96}"/>
              </a:ext>
            </a:extLst>
          </p:cNvPr>
          <p:cNvSpPr/>
          <p:nvPr/>
        </p:nvSpPr>
        <p:spPr>
          <a:xfrm>
            <a:off x="0" y="936739"/>
            <a:ext cx="12191695" cy="142097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28616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3. MAPEO DE ROADMAP &amp; IMPACTO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50806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0F3569"/>
                </a:solidFill>
              </a:rPr>
              <a:t>Fase 3: Buscador Guiado &amp; Frases Rápidas</a:t>
            </a: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82880" cy="11887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47A1"/>
                </a:solidFill>
              </a:defRPr>
            </a:pPr>
            <a:r>
              <a:t>✦ Buscador Guiado (Word Pathfinder) &amp; Halo Azul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Algoritmo que calcula la ruta motora exacta (Inicio ➔ Comida ➔ Manzana) e ilumina cada celda paso a paso con halo azul.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Modelado Asistido (Aided Language Input): Terapeutas y familiares modelan la ruta motora sin tomar la mano del usuario, fomentando la autonomía y focalizando la atención visual.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82880" cy="11887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47A1"/>
                </a:solidFill>
              </a:defRPr>
            </a:pPr>
            <a:r>
              <a:t>✦ Panel de Frases Rápidas (Quick Phrases)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Acceso inmediato a necesidades fisiológicas vitales (baño, hambre, sed) y fórmulas sociales recurrentes en 1 toque.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Rescate en Crisis: En momentos de desregulación sensorial extrema, el usuario no puede construir frases; un toque comunica la urgencia vital al instante.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82880" cy="11887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47A1"/>
                </a:solidFill>
              </a:defRPr>
            </a:pPr>
            <a:r>
              <a:t>✦ Categoría Sensorial Específica 💙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Expresiones de autorregulación emocional: "Hay mucho ruido", "Necesito descanso", "No me toques por favor".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Defensa y Autonomía Sensorial: Empodera a la persona autista a poner límites en el colegio, la casa o la calle, previniendo sobrecargas sensoriales severas.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182880" cy="11887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47A1"/>
                </a:solidFill>
              </a:defRPr>
            </a:pPr>
            <a:r>
              <a:t>✦ Base de Datos Offline SQLite (FTS)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Indexación de vocabulario completo 100% desconectado con búsqueda instantánea de alta velocidad.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Seguridad y Continuidad: Funciona en cualquier lugar sin depender de señal celular o Wi-Fi (aulas, parques, hospitales).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538B8705-0669-C2EE-9C60-E1AEFD0407A5}"/>
              </a:ext>
            </a:extLst>
          </p:cNvPr>
          <p:cNvSpPr/>
          <p:nvPr/>
        </p:nvSpPr>
        <p:spPr>
          <a:xfrm>
            <a:off x="0" y="936739"/>
            <a:ext cx="12191695" cy="142097"/>
          </a:xfrm>
          <a:prstGeom prst="rect">
            <a:avLst/>
          </a:prstGeom>
          <a:solidFill>
            <a:srgbClr val="0C4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28616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3. MAPEO DE ROADMAP &amp; IMPACTO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63553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0F3569"/>
                </a:solidFill>
              </a:rPr>
              <a:t>Fase 4: Accesibilidad Universal &amp; Métodos de Acceso</a:t>
            </a: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8288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8F00"/>
                </a:solidFill>
              </a:defRPr>
            </a:pPr>
            <a:r>
              <a:t>✦ Filtros Táctiles (Hold Time &amp; Debounce)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Tiempo de retención configurable (0.3s-1.0s) con progreso circular y bloqueo de toques involuntarios repetitivos.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Freno a la Impulsividad: Filtra toques por roce, aleteos cerca de la pantalla o espasmos motores, enseñando causa-efecto controlada.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8288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8F00"/>
                </a:solidFill>
              </a:defRPr>
            </a:pPr>
            <a:r>
              <a:t>✦ Modo Activar al Soltar (Release to Activate)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El botón se activa al despegar el dedo de la superficie, no al tocarla por primera vez.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Exploración Táctil Segura: Permite a usuarios con debilidad visomotora deslizar el dedo sintiendo la cuadrícula hasta el botón exacto.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8288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8F00"/>
                </a:solidFill>
              </a:defRPr>
            </a:pPr>
            <a:r>
              <a:t>✦ Barrido por Conmutadores (Switch Scanning)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Modos 1 switch (automático), 2 switches (paso a paso), barrido inverso, audiodescripción hablada y beep de baja latencia.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Inclusión Motora Extrema: Permite comunicación independiente para parálisis cerebral o discapacidad física motora severa.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18288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8F00"/>
                </a:solidFill>
              </a:defRPr>
            </a:pPr>
            <a:r>
              <a:t>✦ Puntero Cefálico (Head Tracking con Cámara)</a:t>
            </a:r>
          </a:p>
          <a:p>
            <a:pPr>
              <a:spcBef>
                <a:spcPts val="200"/>
              </a:spcBef>
              <a:defRPr sz="1050">
                <a:solidFill>
                  <a:srgbClr val="6C757D"/>
                </a:solidFill>
              </a:defRPr>
            </a:pPr>
            <a:r>
              <a:t>Técnico: Seguimiento facial con Google ML Kit, filtrado anti-temblor EMA, selección por fijación visual (Dwell Click) y sonrisa.</a:t>
            </a:r>
          </a:p>
          <a:p>
            <a:pPr>
              <a:spcBef>
                <a:spcPts val="200"/>
              </a:spcBef>
              <a:defRPr sz="1100" b="1">
                <a:solidFill>
                  <a:srgbClr val="212529"/>
                </a:solidFill>
              </a:defRPr>
            </a:pPr>
            <a:r>
              <a:t>🎯 Impacto Clínico: Acceso Sin Manos: Abre un canal comunicativo completo para personas sin movilidad funcional en miembros superiores.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EE2BCD05-F67B-3B75-8064-093AC49D17BC}"/>
              </a:ext>
            </a:extLst>
          </p:cNvPr>
          <p:cNvSpPr/>
          <p:nvPr/>
        </p:nvSpPr>
        <p:spPr>
          <a:xfrm>
            <a:off x="0" y="936739"/>
            <a:ext cx="12191695" cy="142097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534"/>
            <a:ext cx="12191695" cy="710542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534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28616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3. MAPEO DE ROADMAP &amp; IMPACTO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6186630" cy="430887"/>
          </a:xfrm>
          <a:prstGeom prst="rect">
            <a:avLst/>
          </a:prstGeom>
          <a:noFill/>
          <a:ln>
            <a:solidFill>
              <a:srgbClr val="0F3569"/>
            </a:solidFill>
          </a:ln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>
                <a:ln>
                  <a:solidFill>
                    <a:srgbClr val="0F3569"/>
                  </a:solidFill>
                </a:ln>
                <a:solidFill>
                  <a:srgbClr val="0F3569"/>
                </a:solidFill>
              </a:rPr>
              <a:t>Fase 5: </a:t>
            </a:r>
            <a:r>
              <a:rPr dirty="0" err="1">
                <a:ln>
                  <a:solidFill>
                    <a:srgbClr val="0F3569"/>
                  </a:solidFill>
                </a:ln>
                <a:solidFill>
                  <a:srgbClr val="0F3569"/>
                </a:solidFill>
              </a:rPr>
              <a:t>Ecosistema</a:t>
            </a:r>
            <a:r>
              <a:rPr dirty="0">
                <a:ln>
                  <a:solidFill>
                    <a:srgbClr val="0F3569"/>
                  </a:solidFill>
                </a:ln>
                <a:solidFill>
                  <a:srgbClr val="0F3569"/>
                </a:solidFill>
              </a:rPr>
              <a:t>, </a:t>
            </a:r>
            <a:r>
              <a:rPr dirty="0" err="1">
                <a:ln>
                  <a:solidFill>
                    <a:srgbClr val="0F3569"/>
                  </a:solidFill>
                </a:ln>
                <a:solidFill>
                  <a:srgbClr val="0F3569"/>
                </a:solidFill>
              </a:rPr>
              <a:t>Interoperabilidad</a:t>
            </a:r>
            <a:r>
              <a:rPr dirty="0">
                <a:ln>
                  <a:solidFill>
                    <a:srgbClr val="0F3569"/>
                  </a:solidFill>
                </a:ln>
                <a:solidFill>
                  <a:srgbClr val="0F3569"/>
                </a:solidFill>
              </a:rPr>
              <a:t> &amp; </a:t>
            </a:r>
            <a:r>
              <a:rPr dirty="0" err="1">
                <a:ln>
                  <a:solidFill>
                    <a:srgbClr val="0F3569"/>
                  </a:solidFill>
                </a:ln>
                <a:solidFill>
                  <a:srgbClr val="0F3569"/>
                </a:solidFill>
              </a:rPr>
              <a:t>Publicación</a:t>
            </a:r>
            <a:endParaRPr dirty="0">
              <a:ln>
                <a:solidFill>
                  <a:srgbClr val="0F3569"/>
                </a:solidFill>
              </a:ln>
              <a:solidFill>
                <a:srgbClr val="0F3569"/>
              </a:solidFill>
            </a:endParaRP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3328416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60967"/>
            <a:ext cx="3328416" cy="868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781" y="1566605"/>
            <a:ext cx="3054096" cy="45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📦 </a:t>
            </a:r>
            <a:r>
              <a:rPr dirty="0" err="1"/>
              <a:t>Estándar</a:t>
            </a:r>
            <a:r>
              <a:rPr dirty="0"/>
              <a:t> Open Board Format (.</a:t>
            </a:r>
            <a:r>
              <a:rPr dirty="0" err="1"/>
              <a:t>obf</a:t>
            </a:r>
            <a:r>
              <a:rPr dirty="0"/>
              <a:t> / .</a:t>
            </a:r>
            <a:r>
              <a:rPr dirty="0" err="1"/>
              <a:t>obz</a:t>
            </a:r>
            <a:r>
              <a:rPr dirty="0"/>
              <a:t>)</a:t>
            </a:r>
          </a:p>
          <a:p>
            <a:pPr>
              <a:defRPr sz="1050">
                <a:solidFill>
                  <a:srgbClr val="E3F2FD"/>
                </a:solidFill>
              </a:defRPr>
            </a:pPr>
            <a:r>
              <a:rPr dirty="0" err="1"/>
              <a:t>Interoperabilidad</a:t>
            </a:r>
            <a:r>
              <a:rPr dirty="0"/>
              <a:t>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212529"/>
                </a:solidFill>
              </a:defRPr>
            </a:pPr>
            <a:r>
              <a:t>✦ Exportación e importación estándar de tableros individuales (.obf) y colecciones (.obz) con compresión ZIP.</a:t>
            </a:r>
          </a:p>
          <a:p>
            <a:pPr>
              <a:spcAft>
                <a:spcPts val="1200"/>
              </a:spcAft>
              <a:defRPr sz="1150">
                <a:solidFill>
                  <a:srgbClr val="212529"/>
                </a:solidFill>
              </a:defRPr>
            </a:pPr>
            <a:r>
              <a:t>✦ Libertad de Datos: Familias y terapeutas pueden transferir vocabularios entre escuelas, clínicas y otras aplicaciones CAA del mundo sin quedar cautivos en un software propietario.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371600"/>
            <a:ext cx="3328416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1360967"/>
            <a:ext cx="3328416" cy="868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566605"/>
            <a:ext cx="3054096" cy="45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👥 Sistema Multi-</a:t>
            </a:r>
            <a:r>
              <a:rPr dirty="0" err="1"/>
              <a:t>Perfil</a:t>
            </a:r>
            <a:r>
              <a:rPr dirty="0"/>
              <a:t> y </a:t>
            </a:r>
            <a:r>
              <a:rPr dirty="0" err="1"/>
              <a:t>Respaldo</a:t>
            </a:r>
            <a:endParaRPr dirty="0"/>
          </a:p>
          <a:p>
            <a:pPr>
              <a:defRPr sz="1050">
                <a:solidFill>
                  <a:srgbClr val="E3F2FD"/>
                </a:solidFill>
              </a:defRPr>
            </a:pPr>
            <a:r>
              <a:rPr dirty="0" err="1"/>
              <a:t>Soporte</a:t>
            </a:r>
            <a:r>
              <a:rPr dirty="0"/>
              <a:t> Escolar y </a:t>
            </a:r>
            <a:r>
              <a:rPr dirty="0" err="1"/>
              <a:t>Clínico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99432" y="237744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212529"/>
                </a:solidFill>
              </a:defRPr>
            </a:pPr>
            <a:r>
              <a:t>✦ Permite a terapeutas y educadores gestionar perfiles diferenciados para múltiples alumnos o pacientes en un mismo dispositivo.</a:t>
            </a:r>
          </a:p>
          <a:p>
            <a:pPr>
              <a:spcAft>
                <a:spcPts val="1200"/>
              </a:spcAft>
              <a:defRPr sz="1150">
                <a:solidFill>
                  <a:srgbClr val="212529"/>
                </a:solidFill>
              </a:defRPr>
            </a:pPr>
            <a:r>
              <a:t>✦ Ajustes de accesibilidad, filtros motores y vocabularios personalizados independientes para cada usuario.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371600"/>
            <a:ext cx="3328416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4" y="1360967"/>
            <a:ext cx="3328416" cy="868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566605"/>
            <a:ext cx="3054096" cy="45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🚀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Google Play &amp; F-Droid</a:t>
            </a:r>
          </a:p>
          <a:p>
            <a:pPr>
              <a:defRPr sz="1050">
                <a:solidFill>
                  <a:srgbClr val="E3F2FD"/>
                </a:solidFill>
              </a:defRPr>
            </a:pPr>
            <a:r>
              <a:rPr dirty="0" err="1"/>
              <a:t>Acceso</a:t>
            </a:r>
            <a:r>
              <a:rPr dirty="0"/>
              <a:t> Libre Sin Costo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37744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212529"/>
                </a:solidFill>
              </a:defRPr>
            </a:pPr>
            <a:r>
              <a:t>✦ Publicación oficial en F-Droid (repositorio de software libre y ético) y Google Play Store.</a:t>
            </a:r>
          </a:p>
          <a:p>
            <a:pPr>
              <a:spcAft>
                <a:spcPts val="1200"/>
              </a:spcAft>
              <a:defRPr sz="1150">
                <a:solidFill>
                  <a:srgbClr val="212529"/>
                </a:solidFill>
              </a:defRPr>
            </a:pPr>
            <a:r>
              <a:t>✦ Instalación directa, segura y sin publicidad para cualquier familia del mundo con un dispositivo Android convencional.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3D6444B-C8BF-28B2-DE57-573B077647DA}"/>
              </a:ext>
            </a:extLst>
          </p:cNvPr>
          <p:cNvSpPr/>
          <p:nvPr/>
        </p:nvSpPr>
        <p:spPr>
          <a:xfrm>
            <a:off x="0" y="936739"/>
            <a:ext cx="12191695" cy="142097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7972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F2FD"/>
                </a:solidFill>
              </a:defRPr>
            </a:pPr>
            <a:r>
              <a:rPr dirty="0">
                <a:solidFill>
                  <a:srgbClr val="0F3569"/>
                </a:solidFill>
              </a:rPr>
              <a:t>4. ANÁLISIS COMPARATIVO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695991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 err="1">
                <a:solidFill>
                  <a:srgbClr val="0F3569"/>
                </a:solidFill>
              </a:rPr>
              <a:t>Comparativa</a:t>
            </a:r>
            <a:r>
              <a:rPr dirty="0">
                <a:solidFill>
                  <a:srgbClr val="0F3569"/>
                </a:solidFill>
              </a:rPr>
              <a:t>: </a:t>
            </a:r>
            <a:r>
              <a:rPr dirty="0" err="1">
                <a:solidFill>
                  <a:srgbClr val="0F3569"/>
                </a:solidFill>
              </a:rPr>
              <a:t>MatataTalk</a:t>
            </a:r>
            <a:r>
              <a:rPr dirty="0">
                <a:solidFill>
                  <a:srgbClr val="0F3569"/>
                </a:solidFill>
              </a:rPr>
              <a:t> </a:t>
            </a:r>
            <a:r>
              <a:rPr dirty="0" err="1">
                <a:solidFill>
                  <a:srgbClr val="0F3569"/>
                </a:solidFill>
              </a:rPr>
              <a:t>frente</a:t>
            </a:r>
            <a:r>
              <a:rPr dirty="0">
                <a:solidFill>
                  <a:srgbClr val="0F3569"/>
                </a:solidFill>
              </a:rPr>
              <a:t> a Soluciones del Mercado</a:t>
            </a:r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64592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Criterio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Clínico</a:t>
                      </a:r>
                      <a:r>
                        <a:rPr dirty="0"/>
                        <a:t> / Técnico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Software Propietario (iOS)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Apps Gratuitas Genéricas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🦁 MatataTalk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Costo para la Familia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 -  USD + iPad caro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Gratis (con ads / incompleta)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5E20"/>
                          </a:solidFill>
                        </a:defRPr>
                      </a:pPr>
                      <a:r>
                        <a:t>100% Gratuito y Libre (Open Source)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Plataformas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Solo iPad / iPhone (Apple)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Android básico fragmentado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5E20"/>
                          </a:solidFill>
                        </a:defRPr>
                      </a:pPr>
                      <a:r>
                        <a:t>Android Universal (y Multiplataforma)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Planeación Motora Invariante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✅ 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❌ No (listas alfabéticas)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5E20"/>
                          </a:solidFill>
                        </a:defRPr>
                      </a:pPr>
                      <a:r>
                        <a:t>✅ Sí (Invarianza estricta)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Morfología en Español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✅ Sí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❌ No (solo infinitivos)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5E20"/>
                          </a:solidFill>
                        </a:defRPr>
                      </a:pPr>
                      <a:r>
                        <a:t>✅ Sí (Conjugador y concordancia)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Buscador Guiado (Pathfinder)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✅ 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5E20"/>
                          </a:solidFill>
                        </a:defRPr>
                      </a:pPr>
                      <a:r>
                        <a:t>✅ Sí (Ruta motora paso a paso)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Filtros Táctiles y Accesibilidad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⚠️ Parcial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5E20"/>
                          </a:solidFill>
                        </a:defRPr>
                      </a:pPr>
                      <a:r>
                        <a:t>✅ Sí (Hold, Debounce, Release, Háptica)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Enfoque en Regulación Sensorial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❌ Genérico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❌ Genérico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5E20"/>
                          </a:solidFill>
                        </a:defRPr>
                      </a:pPr>
                      <a:r>
                        <a:rPr dirty="0"/>
                        <a:t>✅ </a:t>
                      </a:r>
                      <a:r>
                        <a:rPr dirty="0" err="1"/>
                        <a:t>Específico</a:t>
                      </a:r>
                      <a:r>
                        <a:rPr dirty="0"/>
                        <a:t> para </a:t>
                      </a:r>
                      <a:r>
                        <a:rPr dirty="0" err="1"/>
                        <a:t>Autismo</a:t>
                      </a:r>
                      <a:r>
                        <a:rPr dirty="0"/>
                        <a:t> (💙)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9448495" cy="3291840"/>
          </a:xfrm>
          <a:prstGeom prst="roundRect">
            <a:avLst/>
          </a:prstGeom>
          <a:solidFill>
            <a:srgbClr val="103669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804137"/>
            <a:ext cx="8899855" cy="2061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“La </a:t>
            </a:r>
            <a:r>
              <a:rPr dirty="0" err="1"/>
              <a:t>comunicación</a:t>
            </a:r>
            <a:r>
              <a:rPr dirty="0"/>
              <a:t> es un derecho </a:t>
            </a:r>
            <a:r>
              <a:rPr dirty="0" err="1"/>
              <a:t>humano</a:t>
            </a:r>
            <a:r>
              <a:rPr dirty="0"/>
              <a:t> fundamental, no un privilegio </a:t>
            </a:r>
            <a:r>
              <a:rPr dirty="0" err="1"/>
              <a:t>costoso</a:t>
            </a:r>
            <a:r>
              <a:rPr dirty="0"/>
              <a:t>.</a:t>
            </a:r>
          </a:p>
          <a:p>
            <a:pPr algn="ctr">
              <a:spcBef>
                <a:spcPts val="1200"/>
              </a:spcBef>
              <a:defRPr sz="2000" i="1">
                <a:solidFill>
                  <a:srgbClr val="B3E5FC"/>
                </a:solidFill>
              </a:defRPr>
            </a:pPr>
            <a:r>
              <a:rPr dirty="0" err="1"/>
              <a:t>MatataTalk</a:t>
            </a:r>
            <a:r>
              <a:rPr dirty="0"/>
              <a:t>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abierta</a:t>
            </a:r>
            <a:r>
              <a:rPr dirty="0"/>
              <a:t>, </a:t>
            </a:r>
            <a:r>
              <a:rPr dirty="0" err="1"/>
              <a:t>guiada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amor familiar y el rigor </a:t>
            </a:r>
            <a:r>
              <a:rPr dirty="0" err="1"/>
              <a:t>clínico</a:t>
            </a:r>
            <a:r>
              <a:rPr dirty="0"/>
              <a:t>,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transformar</a:t>
            </a:r>
            <a:r>
              <a:rPr dirty="0"/>
              <a:t> la </a:t>
            </a:r>
            <a:r>
              <a:rPr dirty="0" err="1"/>
              <a:t>vida</a:t>
            </a:r>
            <a:r>
              <a:rPr dirty="0"/>
              <a:t> de </a:t>
            </a:r>
            <a:r>
              <a:rPr dirty="0" err="1"/>
              <a:t>niños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Mateo y de miles de personas no </a:t>
            </a:r>
            <a:r>
              <a:rPr dirty="0" err="1"/>
              <a:t>verbales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el </a:t>
            </a:r>
            <a:r>
              <a:rPr dirty="0" err="1"/>
              <a:t>mundo</a:t>
            </a:r>
            <a:r>
              <a:rPr dirty="0"/>
              <a:t>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48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EB3B"/>
                </a:solidFill>
              </a:defRPr>
            </a:pPr>
            <a:r>
              <a:t>🦁 MatataTalk · Proyecto Libre y Abierto</a:t>
            </a:r>
          </a:p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Hecho con amor para Mateo Rafael y para cada persona que busca su propia voz.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1774</Words>
  <Application>Microsoft Macintosh PowerPoint</Application>
  <PresentationFormat>Panorámica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Karlos Martinez</cp:lastModifiedBy>
  <cp:revision>3</cp:revision>
  <dcterms:created xsi:type="dcterms:W3CDTF">2013-01-27T09:14:16Z</dcterms:created>
  <dcterms:modified xsi:type="dcterms:W3CDTF">2026-10-18T13:52:51Z</dcterms:modified>
  <cp:category/>
</cp:coreProperties>
</file>